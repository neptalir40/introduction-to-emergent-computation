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Azar (AUC 0.5)</c:v>
                </c:pt>
              </c:strCache>
            </c:strRef>
          </c:tx>
          <c:spPr>
            <a:solidFill>
              <a:srgbClr val="5B6472"/>
            </a:solidFill>
            <a:ln w="25400" cap="flat">
              <a:solidFill>
                <a:srgbClr val="5B6472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6472"/>
              </a:solidFill>
              <a:ln w="9525" cap="flat">
                <a:solidFill>
                  <a:srgbClr val="5B64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0.0</c:v>
                  </c:pt>
                  <c:pt idx="1">
                    <c:v>0.1</c:v>
                  </c:pt>
                  <c:pt idx="2">
                    <c:v>0.2</c:v>
                  </c:pt>
                  <c:pt idx="3">
                    <c:v>0.3</c:v>
                  </c:pt>
                  <c:pt idx="4">
                    <c:v>0.4</c:v>
                  </c:pt>
                  <c:pt idx="5">
                    <c:v>0.5</c:v>
                  </c:pt>
                  <c:pt idx="6">
                    <c:v>0.6</c:v>
                  </c:pt>
                  <c:pt idx="7">
                    <c:v>0.7</c:v>
                  </c:pt>
                  <c:pt idx="8">
                    <c:v>0.8</c:v>
                  </c:pt>
                  <c:pt idx="9">
                    <c:v>0.9</c:v>
                  </c:pt>
                  <c:pt idx="10">
                    <c:v>1.0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Clasificador medio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0.0</c:v>
                  </c:pt>
                  <c:pt idx="1">
                    <c:v>0.1</c:v>
                  </c:pt>
                  <c:pt idx="2">
                    <c:v>0.2</c:v>
                  </c:pt>
                  <c:pt idx="3">
                    <c:v>0.3</c:v>
                  </c:pt>
                  <c:pt idx="4">
                    <c:v>0.4</c:v>
                  </c:pt>
                  <c:pt idx="5">
                    <c:v>0.5</c:v>
                  </c:pt>
                  <c:pt idx="6">
                    <c:v>0.6</c:v>
                  </c:pt>
                  <c:pt idx="7">
                    <c:v>0.7</c:v>
                  </c:pt>
                  <c:pt idx="8">
                    <c:v>0.8</c:v>
                  </c:pt>
                  <c:pt idx="9">
                    <c:v>0.9</c:v>
                  </c:pt>
                  <c:pt idx="10">
                    <c:v>1.0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35</c:v>
                </c:pt>
                <c:pt idx="2">
                  <c:v>48</c:v>
                </c:pt>
                <c:pt idx="3">
                  <c:v>58</c:v>
                </c:pt>
                <c:pt idx="4">
                  <c:v>66</c:v>
                </c:pt>
                <c:pt idx="5">
                  <c:v>73</c:v>
                </c:pt>
                <c:pt idx="6">
                  <c:v>79</c:v>
                </c:pt>
                <c:pt idx="7">
                  <c:v>85</c:v>
                </c:pt>
                <c:pt idx="8">
                  <c:v>90</c:v>
                </c:pt>
                <c:pt idx="9">
                  <c:v>95</c:v>
                </c:pt>
                <c:pt idx="10">
                  <c:v>100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Clasificador mejor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0.0</c:v>
                  </c:pt>
                  <c:pt idx="1">
                    <c:v>0.1</c:v>
                  </c:pt>
                  <c:pt idx="2">
                    <c:v>0.2</c:v>
                  </c:pt>
                  <c:pt idx="3">
                    <c:v>0.3</c:v>
                  </c:pt>
                  <c:pt idx="4">
                    <c:v>0.4</c:v>
                  </c:pt>
                  <c:pt idx="5">
                    <c:v>0.5</c:v>
                  </c:pt>
                  <c:pt idx="6">
                    <c:v>0.6</c:v>
                  </c:pt>
                  <c:pt idx="7">
                    <c:v>0.7</c:v>
                  </c:pt>
                  <c:pt idx="8">
                    <c:v>0.8</c:v>
                  </c:pt>
                  <c:pt idx="9">
                    <c:v>0.9</c:v>
                  </c:pt>
                  <c:pt idx="10">
                    <c:v>1.0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63</c:v>
                </c:pt>
                <c:pt idx="2">
                  <c:v>72</c:v>
                </c:pt>
                <c:pt idx="3">
                  <c:v>79</c:v>
                </c:pt>
                <c:pt idx="4">
                  <c:v>83</c:v>
                </c:pt>
                <c:pt idx="5">
                  <c:v>87</c:v>
                </c:pt>
                <c:pt idx="6">
                  <c:v>90</c:v>
                </c:pt>
                <c:pt idx="7">
                  <c:v>93</c:v>
                </c:pt>
                <c:pt idx="8">
                  <c:v>96</c:v>
                </c:pt>
                <c:pt idx="9">
                  <c:v>98</c:v>
                </c:pt>
                <c:pt idx="10">
                  <c:v>100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800" u="none">
                  <a:solidFill>
                    <a:srgbClr val="37415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B5563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4B5563"/>
                    </a:solidFill>
                    <a:latin typeface="Arial"/>
                  </a:rPr>
                  <a:t>fracción de fondo aceptado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B5563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4B5563"/>
                    </a:solidFill>
                    <a:latin typeface="Arial"/>
                  </a:rPr>
                  <a:t>% de señal aceptada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BDT</c:v>
                </c:pt>
              </c:strCache>
            </c:strRef>
          </c:tx>
          <c:spPr>
            <a:solidFill>
              <a:srgbClr val="5B647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Bajo nivel</c:v>
                  </c:pt>
                  <c:pt idx="1">
                    <c:v>Alto nivel</c:v>
                  </c:pt>
                  <c:pt idx="2">
                    <c:v>Todas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0.73</c:v>
                </c:pt>
                <c:pt idx="1">
                  <c:v>0.78</c:v>
                </c:pt>
                <c:pt idx="2">
                  <c:v>0.81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Red poco profunda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Bajo nivel</c:v>
                  </c:pt>
                  <c:pt idx="1">
                    <c:v>Alto nivel</c:v>
                  </c:pt>
                  <c:pt idx="2">
                    <c:v>Todas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0.733</c:v>
                </c:pt>
                <c:pt idx="1">
                  <c:v>0.777</c:v>
                </c:pt>
                <c:pt idx="2">
                  <c:v>0.816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Red profunda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Bajo nivel</c:v>
                  </c:pt>
                  <c:pt idx="1">
                    <c:v>Alto nivel</c:v>
                  </c:pt>
                  <c:pt idx="2">
                    <c:v>Todas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0.88</c:v>
                </c:pt>
                <c:pt idx="1">
                  <c:v>0.8</c:v>
                </c:pt>
                <c:pt idx="2">
                  <c:v>0.885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37415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5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B5563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4B5563"/>
                    </a:solidFill>
                    <a:latin typeface="Arial"/>
                  </a:rPr>
                  <a:t>AUC (HIGGS)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(0.5 min) Presentar el articulo: Baldi, Sadowski y Whiteson, Nature Communications 2014. Autores de aprendizaje automatico (UC Irvine) y de fisica experimental (ATLAS).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(1.5 min) En un colisionador casi todo lo que se registra es fondo conocido. La senal de una particula nueva es escasa y deja la misma huella en el detector. Separarlas es clasificacion binaria, y cada mejora en la separacion aumenta la significancia.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Senal: un Higgs pesado hipotetico de 425 GeV que decae a traves de un Higgs cargado de 325 GeV. Fondo: pares de quarks top. Los dos procesos terminan en el mismo estado final: un lepton, neutrinos (energia faltante) y cuatro jets, dos de ellos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(1.5 min) Las 21 variables de bajo nivel son lo que mide el detector. Las 7 de alto nivel son masas invariantes que los fisicos derivan de ellas para aislar la senal: ingenieria manual de caracteristicas.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La red poco profunda tiene una sola capa oculta; la profunda, cinco capas de 300 neuronas. Enlace con el experimento 08: la capa oculta crea un espacio donde el problema se vuelve separable; con mas capas se encadenan esas transformaciones.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Todo lo que usa el articulo aparece en el curso: retropropagacion, descenso por el gradiente, razon de aprendizaje, momento y parada temprana. Lo nuevo es la escala: 2.6 millones de sucesos de entrenamiento y GPU.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(1.5 min) La curva ROC muestra la fraccion de senal aceptada frente a la de fondo aceptado al mover el umbral. El AUC resume la curva: 0.5 es azar, 1 es perfecto. La significancia en sigmas mide cuan improbable es que el exceso sea una fluctuacion del fondo. Las curvas de la figura son ilustrativas.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Lectura 1: con solo las medidas brutas la red profunda (0.880) supera a la poco profunda con las variables de los fisicos (0.777). Lectura 2: anadir las variables de alto nivel casi no mejora a la red profunda (0.885). Lectura 3: en significancia, de 3.7 a 5.0 sigmas con todas las variables.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Limitaciones principales: todo se entrena y evalua sobre simulaciones; la red es una caja negra; el coste de datos y computo; y la ganancia depende del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Tres frases de cierre y abrir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77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Seminario de investigación · Actividad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Buscando partículas exóticas con aprendizaje profundo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Baldi, P., Sadowski, P. y Whiteson, D. (2014)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Communications</a:t>
            </a:r>
            <a:pPr indent="0" marL="0">
              <a:buNone/>
            </a:pPr>
            <a:r>
              <a:rPr lang="en-US" sz="130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5, 4308 · doi:10.1038/ncomms5308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flipV="1">
            <a:off x="6217920" y="1188720"/>
            <a:ext cx="381000" cy="54864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1243584"/>
            <a:ext cx="381000" cy="493776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1243584"/>
            <a:ext cx="381000" cy="1042416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1243584"/>
            <a:ext cx="381000" cy="1591056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243584"/>
            <a:ext cx="381000" cy="2139696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43584"/>
            <a:ext cx="381000" cy="2688336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6217920" y="1188720"/>
            <a:ext cx="381000" cy="713232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6217920" y="1737360"/>
            <a:ext cx="381000" cy="164592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901952"/>
            <a:ext cx="381000" cy="384048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901952"/>
            <a:ext cx="381000" cy="932688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901952"/>
            <a:ext cx="381000" cy="1481328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901952"/>
            <a:ext cx="381000" cy="2029968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6217920" y="1188720"/>
            <a:ext cx="381000" cy="137160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6217920" y="1737360"/>
            <a:ext cx="381000" cy="8229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6217920" y="2286000"/>
            <a:ext cx="381000" cy="2743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560320"/>
            <a:ext cx="381000" cy="2743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2560320"/>
            <a:ext cx="381000" cy="8229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2560320"/>
            <a:ext cx="381000" cy="137160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6217920" y="1188720"/>
            <a:ext cx="381000" cy="2029968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6217920" y="1737360"/>
            <a:ext cx="381000" cy="1481328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6217920" y="2286000"/>
            <a:ext cx="381000" cy="932688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6217920" y="2834640"/>
            <a:ext cx="381000" cy="384048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3218688"/>
            <a:ext cx="381000" cy="164592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3218688"/>
            <a:ext cx="381000" cy="713232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6217920" y="1188720"/>
            <a:ext cx="381000" cy="2688336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6217920" y="1737360"/>
            <a:ext cx="381000" cy="2139696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6217920" y="2286000"/>
            <a:ext cx="381000" cy="1591056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6217920" y="2834640"/>
            <a:ext cx="381000" cy="1042416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6217920" y="3383280"/>
            <a:ext cx="381000" cy="493776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3877056"/>
            <a:ext cx="381000" cy="54864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98920" y="1188720"/>
            <a:ext cx="38100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98920" y="118872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98920" y="1188720"/>
            <a:ext cx="381000" cy="10972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98920" y="1188720"/>
            <a:ext cx="381000" cy="16459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98920" y="1188720"/>
            <a:ext cx="381000" cy="21945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98920" y="1188720"/>
            <a:ext cx="381000" cy="274320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6598920" y="118872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98920" y="1737360"/>
            <a:ext cx="38100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98920" y="173736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98920" y="1737360"/>
            <a:ext cx="381000" cy="10972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98920" y="1737360"/>
            <a:ext cx="381000" cy="16459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98920" y="1737360"/>
            <a:ext cx="381000" cy="21945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6598920" y="1188720"/>
            <a:ext cx="381000" cy="10972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6598920" y="173736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98920" y="2286000"/>
            <a:ext cx="38100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98920" y="228600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98920" y="2286000"/>
            <a:ext cx="381000" cy="10972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98920" y="2286000"/>
            <a:ext cx="381000" cy="16459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6598920" y="1188720"/>
            <a:ext cx="381000" cy="16459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6598920" y="1737360"/>
            <a:ext cx="381000" cy="10972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6598920" y="228600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598920" y="2834640"/>
            <a:ext cx="38100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598920" y="283464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598920" y="2834640"/>
            <a:ext cx="381000" cy="10972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6598920" y="1188720"/>
            <a:ext cx="381000" cy="21945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6598920" y="1737360"/>
            <a:ext cx="381000" cy="16459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6598920" y="2286000"/>
            <a:ext cx="381000" cy="10972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6598920" y="283464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598920" y="3383280"/>
            <a:ext cx="38100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598920" y="338328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6598920" y="1188720"/>
            <a:ext cx="381000" cy="274320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6598920" y="1737360"/>
            <a:ext cx="381000" cy="21945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6598920" y="2286000"/>
            <a:ext cx="381000" cy="16459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6598920" y="2834640"/>
            <a:ext cx="381000" cy="10972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6598920" y="338328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598920" y="3931920"/>
            <a:ext cx="38100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979920" y="1188720"/>
            <a:ext cx="38100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979920" y="118872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979920" y="1188720"/>
            <a:ext cx="381000" cy="10972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979920" y="1188720"/>
            <a:ext cx="381000" cy="16459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979920" y="1188720"/>
            <a:ext cx="381000" cy="21945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979920" y="1188720"/>
            <a:ext cx="381000" cy="274320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6979920" y="118872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979920" y="1737360"/>
            <a:ext cx="38100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979920" y="173736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979920" y="1737360"/>
            <a:ext cx="381000" cy="10972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979920" y="1737360"/>
            <a:ext cx="381000" cy="16459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979920" y="1737360"/>
            <a:ext cx="381000" cy="21945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V="1">
            <a:off x="6979920" y="1188720"/>
            <a:ext cx="381000" cy="10972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V="1">
            <a:off x="6979920" y="173736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979920" y="2286000"/>
            <a:ext cx="38100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979920" y="228600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979920" y="2286000"/>
            <a:ext cx="381000" cy="10972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979920" y="2286000"/>
            <a:ext cx="381000" cy="16459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V="1">
            <a:off x="6979920" y="1188720"/>
            <a:ext cx="381000" cy="16459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V="1">
            <a:off x="6979920" y="1737360"/>
            <a:ext cx="381000" cy="10972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V="1">
            <a:off x="6979920" y="228600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979920" y="2834640"/>
            <a:ext cx="38100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979920" y="283464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979920" y="2834640"/>
            <a:ext cx="381000" cy="10972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6979920" y="1188720"/>
            <a:ext cx="381000" cy="21945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V="1">
            <a:off x="6979920" y="1737360"/>
            <a:ext cx="381000" cy="16459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V="1">
            <a:off x="6979920" y="2286000"/>
            <a:ext cx="381000" cy="10972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V="1">
            <a:off x="6979920" y="283464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979920" y="3383280"/>
            <a:ext cx="38100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979920" y="338328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V="1">
            <a:off x="6979920" y="1188720"/>
            <a:ext cx="381000" cy="274320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6979920" y="1737360"/>
            <a:ext cx="381000" cy="21945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V="1">
            <a:off x="6979920" y="2286000"/>
            <a:ext cx="381000" cy="16459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6979920" y="2834640"/>
            <a:ext cx="381000" cy="10972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V="1">
            <a:off x="6979920" y="338328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979920" y="3931920"/>
            <a:ext cx="38100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360920" y="1188720"/>
            <a:ext cx="38100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360920" y="118872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360920" y="1188720"/>
            <a:ext cx="381000" cy="10972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360920" y="1188720"/>
            <a:ext cx="381000" cy="16459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360920" y="1188720"/>
            <a:ext cx="381000" cy="21945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360920" y="1188720"/>
            <a:ext cx="381000" cy="274320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flipV="1">
            <a:off x="7360920" y="118872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360920" y="1737360"/>
            <a:ext cx="38100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360920" y="173736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360920" y="1737360"/>
            <a:ext cx="381000" cy="10972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360920" y="1737360"/>
            <a:ext cx="381000" cy="16459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360920" y="1737360"/>
            <a:ext cx="381000" cy="21945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flipV="1">
            <a:off x="7360920" y="1188720"/>
            <a:ext cx="381000" cy="10972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V="1">
            <a:off x="7360920" y="173736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360920" y="2286000"/>
            <a:ext cx="38100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360920" y="228600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360920" y="2286000"/>
            <a:ext cx="381000" cy="10972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360920" y="2286000"/>
            <a:ext cx="381000" cy="16459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flipV="1">
            <a:off x="7360920" y="1188720"/>
            <a:ext cx="381000" cy="16459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7360920" y="1737360"/>
            <a:ext cx="381000" cy="10972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flipV="1">
            <a:off x="7360920" y="228600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360920" y="2834640"/>
            <a:ext cx="38100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360920" y="283464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360920" y="2834640"/>
            <a:ext cx="381000" cy="10972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flipV="1">
            <a:off x="7360920" y="1188720"/>
            <a:ext cx="381000" cy="21945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flipV="1">
            <a:off x="7360920" y="1737360"/>
            <a:ext cx="381000" cy="16459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7360920" y="2286000"/>
            <a:ext cx="381000" cy="10972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flipV="1">
            <a:off x="7360920" y="283464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360920" y="3383280"/>
            <a:ext cx="38100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360920" y="338328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flipV="1">
            <a:off x="7360920" y="1188720"/>
            <a:ext cx="381000" cy="274320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flipV="1">
            <a:off x="7360920" y="1737360"/>
            <a:ext cx="381000" cy="21945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flipV="1">
            <a:off x="7360920" y="2286000"/>
            <a:ext cx="381000" cy="16459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flipV="1">
            <a:off x="7360920" y="2834640"/>
            <a:ext cx="381000" cy="10972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 flipV="1">
            <a:off x="7360920" y="338328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360920" y="3931920"/>
            <a:ext cx="38100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741920" y="1188720"/>
            <a:ext cx="38100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741920" y="118872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741920" y="1188720"/>
            <a:ext cx="381000" cy="10972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741920" y="1188720"/>
            <a:ext cx="381000" cy="16459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741920" y="1188720"/>
            <a:ext cx="381000" cy="21945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741920" y="1188720"/>
            <a:ext cx="381000" cy="274320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 flipV="1">
            <a:off x="7741920" y="118872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741920" y="1737360"/>
            <a:ext cx="38100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741920" y="173736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741920" y="1737360"/>
            <a:ext cx="381000" cy="10972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741920" y="1737360"/>
            <a:ext cx="381000" cy="16459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741920" y="1737360"/>
            <a:ext cx="381000" cy="21945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flipV="1">
            <a:off x="7741920" y="1188720"/>
            <a:ext cx="381000" cy="10972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flipV="1">
            <a:off x="7741920" y="173736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741920" y="2286000"/>
            <a:ext cx="38100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741920" y="228600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741920" y="2286000"/>
            <a:ext cx="381000" cy="10972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741920" y="2286000"/>
            <a:ext cx="381000" cy="16459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flipV="1">
            <a:off x="7741920" y="1188720"/>
            <a:ext cx="381000" cy="16459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 flipV="1">
            <a:off x="7741920" y="1737360"/>
            <a:ext cx="381000" cy="10972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 flipV="1">
            <a:off x="7741920" y="228600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741920" y="2834640"/>
            <a:ext cx="38100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741920" y="283464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741920" y="2834640"/>
            <a:ext cx="381000" cy="10972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 flipV="1">
            <a:off x="7741920" y="1188720"/>
            <a:ext cx="381000" cy="21945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 flipV="1">
            <a:off x="7741920" y="1737360"/>
            <a:ext cx="381000" cy="16459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 flipV="1">
            <a:off x="7741920" y="2286000"/>
            <a:ext cx="381000" cy="10972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 flipV="1">
            <a:off x="7741920" y="283464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741920" y="3383280"/>
            <a:ext cx="38100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741920" y="338328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flipV="1">
            <a:off x="7741920" y="1188720"/>
            <a:ext cx="381000" cy="274320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 flipV="1">
            <a:off x="7741920" y="1737360"/>
            <a:ext cx="381000" cy="21945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flipV="1">
            <a:off x="7741920" y="2286000"/>
            <a:ext cx="381000" cy="16459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 flipV="1">
            <a:off x="7741920" y="2834640"/>
            <a:ext cx="381000" cy="109728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 flipV="1">
            <a:off x="7741920" y="3383280"/>
            <a:ext cx="381000" cy="54864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7741920" y="3931920"/>
            <a:ext cx="381000" cy="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122920" y="1188720"/>
            <a:ext cx="381000" cy="137160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122920" y="1737360"/>
            <a:ext cx="381000" cy="8229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122920" y="2286000"/>
            <a:ext cx="381000" cy="2743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 flipV="1">
            <a:off x="8122920" y="2560320"/>
            <a:ext cx="381000" cy="27432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 flipV="1">
            <a:off x="8122920" y="2560320"/>
            <a:ext cx="381000" cy="82296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 flipV="1">
            <a:off x="8122920" y="2560320"/>
            <a:ext cx="381000" cy="1371600"/>
          </a:xfrm>
          <a:prstGeom prst="line">
            <a:avLst/>
          </a:prstGeom>
          <a:noFill/>
          <a:ln w="6350">
            <a:solidFill>
              <a:srgbClr val="3B4A73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153912" y="1179576"/>
            <a:ext cx="128016" cy="128016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153912" y="1837944"/>
            <a:ext cx="128016" cy="128016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153912" y="2496312"/>
            <a:ext cx="128016" cy="128016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153912" y="3154680"/>
            <a:ext cx="128016" cy="128016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153912" y="3813048"/>
            <a:ext cx="128016" cy="128016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534912" y="112471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534912" y="167335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534912" y="222199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534912" y="277063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534912" y="331927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534912" y="386791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915912" y="112471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915912" y="167335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915912" y="222199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6915912" y="277063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915912" y="331927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6915912" y="386791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296912" y="112471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296912" y="167335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296912" y="222199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296912" y="277063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296912" y="331927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296912" y="386791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677912" y="112471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677912" y="167335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677912" y="222199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677912" y="277063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677912" y="331927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677912" y="386791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058912" y="112471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058912" y="167335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058912" y="222199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058912" y="277063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058912" y="331927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058912" y="386791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439912" y="2496312"/>
            <a:ext cx="128016" cy="12801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918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Descubrir una partícula: poca señal entre mucho fondo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" y="1234440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1234440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53896" y="1234440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55648" y="1234440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1234440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59152" y="1234440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1234440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62656" y="1234440"/>
            <a:ext cx="182880" cy="18288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4408" y="1234440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1234440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563624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" y="1563624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2144" y="1563624"/>
            <a:ext cx="182880" cy="18288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53896" y="1563624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55648" y="1563624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57400" y="1563624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9152" y="1563624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60904" y="1563624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62656" y="1563624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64408" y="1563624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66160" y="1563624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1892808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0392" y="1892808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52144" y="1892808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53896" y="1892808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55648" y="1892808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57400" y="1892808"/>
            <a:ext cx="182880" cy="18288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59152" y="1892808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60904" y="1892808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62656" y="1892808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64408" y="1892808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1892808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2221992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0392" y="2221992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52144" y="2221992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53896" y="2221992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55648" y="2221992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57400" y="2221992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59152" y="2221992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60904" y="2221992"/>
            <a:ext cx="182880" cy="18288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62656" y="2221992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64408" y="2221992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66160" y="2221992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8640" y="2551176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50392" y="2551176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52144" y="2551176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453896" y="2551176"/>
            <a:ext cx="182880" cy="18288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755648" y="2551176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057400" y="2551176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359152" y="2551176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60904" y="2551176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962656" y="2551176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64408" y="2551176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566160" y="2551176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48640" y="2880360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50392" y="2880360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52144" y="2880360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453896" y="2880360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755648" y="2880360"/>
            <a:ext cx="182880" cy="18288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057400" y="2880360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59152" y="2880360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660904" y="2880360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962656" y="2880360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264408" y="2880360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566160" y="2880360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8640" y="3209544"/>
            <a:ext cx="182880" cy="18288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50392" y="3209544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52144" y="3209544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453896" y="3209544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755648" y="3209544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057400" y="3209544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359152" y="3209544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660904" y="3209544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962656" y="3209544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264408" y="3209544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566160" y="3209544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48640" y="3538728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50392" y="3538728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52144" y="3538728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453896" y="3538728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55648" y="3538728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057400" y="3538728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359152" y="3538728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660904" y="3538728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962656" y="3538728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264408" y="3538728"/>
            <a:ext cx="182880" cy="18288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566160" y="3538728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48640" y="3867912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50392" y="3867912"/>
            <a:ext cx="182880" cy="18288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52144" y="3867912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453896" y="3867912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755648" y="3867912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057400" y="3867912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359152" y="3867912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660904" y="3867912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962656" y="3867912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264408" y="3867912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566160" y="3867912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48640" y="4197096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50392" y="4197096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152144" y="4197096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453896" y="4197096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755648" y="4197096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057400" y="4197096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359152" y="4197096"/>
            <a:ext cx="182880" cy="18288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660904" y="4197096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962656" y="4197096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264408" y="4197096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566160" y="4197096"/>
            <a:ext cx="182880" cy="182880"/>
          </a:xfrm>
          <a:prstGeom prst="ellipse">
            <a:avLst/>
          </a:prstGeom>
          <a:solidFill>
            <a:srgbClr val="C3CCDA"/>
          </a:solidFill>
          <a:ln w="12700">
            <a:solidFill>
              <a:srgbClr val="C3CCDA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45720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   </a:t>
            </a:r>
            <a:pPr indent="0" marL="0">
              <a:buNone/>
            </a:pPr>
            <a:r>
              <a:rPr lang="en-US" sz="1100" dirty="0">
                <a:solidFill>
                  <a:srgbClr val="C3CC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 (1 : 10)</a:t>
            </a:r>
            <a:endParaRPr lang="en-US" sz="1100" dirty="0"/>
          </a:p>
        </p:txBody>
      </p:sp>
      <p:sp>
        <p:nvSpPr>
          <p:cNvPr id="114" name="Text 112"/>
          <p:cNvSpPr txBox="1"/>
          <p:nvPr/>
        </p:nvSpPr>
        <p:spPr>
          <a:xfrm>
            <a:off x="4206240" y="1234440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Clasificación binaria: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suceso del detector es señal o fondo, y ambos dejan huellas casi idénticas.</a:t>
            </a:r>
            <a:endParaRPr lang="en-US" sz="135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Correlaciones sutiles: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diferencia está en relaciones entre muchas variables a la vez, no en una sola.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décima cuenta: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un poco mejor equivale a acumular más datos; el umbral de descubrimiento es 5σ.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918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caso HIGGS: dos procesos, la misma huella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gg → H</a:t>
            </a:r>
            <a:pPr indent="0" marL="0">
              <a:buNone/>
            </a:pPr>
            <a:r>
              <a:rPr lang="en-US" sz="1200" b="1" baseline="3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38528" y="1783080"/>
            <a:ext cx="237744" cy="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94560" y="155448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9456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indent="0" marL="0">
              <a:buNone/>
            </a:pPr>
            <a:r>
              <a:rPr lang="en-US" sz="1200" b="1" baseline="3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W H</a:t>
            </a:r>
            <a:pPr indent="0" marL="0">
              <a:buNone/>
            </a:pPr>
            <a:r>
              <a:rPr lang="en-US" sz="1200" b="1" baseline="3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75888" y="1783080"/>
            <a:ext cx="237744" cy="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931920" y="155448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3192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indent="0" marL="0">
              <a:buNone/>
            </a:pPr>
            <a:r>
              <a:rPr lang="en-US" sz="1200" b="1" baseline="3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W h</a:t>
            </a:r>
            <a:pPr indent="0" marL="0">
              <a:buNone/>
            </a:pPr>
            <a:r>
              <a:rPr lang="en-US" sz="1200" b="1" baseline="3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13248" y="1783080"/>
            <a:ext cx="237744" cy="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669280" y="155448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indent="0" marL="0">
              <a:buNone/>
            </a:pPr>
            <a:r>
              <a:rPr lang="en-US" sz="1200" b="1" baseline="3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b b̄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103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indent="0" marL="0">
              <a:buNone/>
            </a:pPr>
            <a:r>
              <a:rPr lang="en-US" sz="1100" baseline="30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425 GeV y H</a:t>
            </a:r>
            <a:pPr indent="0" marL="0">
              <a:buNone/>
            </a:pPr>
            <a:r>
              <a:rPr lang="en-US" sz="1100" baseline="30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</a:t>
            </a:r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325 GeV: partículas hipotéticas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gg → t t̄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938528" y="3337560"/>
            <a:ext cx="237744" cy="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194560" y="310896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9456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t̄ → W W b b̄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657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 de pares de quarks top: un proceso conocido y abundante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83680" y="2148840"/>
            <a:ext cx="2103120" cy="1325880"/>
          </a:xfrm>
          <a:prstGeom prst="roundRect">
            <a:avLst>
              <a:gd name="adj" fmla="val 551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20840" y="2258568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estado final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W b b̄  →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leptón + energía faltante + 4 jets (2 de quarks b)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949440" y="1783080"/>
            <a:ext cx="685800" cy="347472"/>
          </a:xfrm>
          <a:prstGeom prst="line">
            <a:avLst/>
          </a:prstGeom>
          <a:noFill/>
          <a:ln w="15875">
            <a:solidFill>
              <a:srgbClr val="EB683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3675888" y="3200400"/>
            <a:ext cx="2889504" cy="137160"/>
          </a:xfrm>
          <a:prstGeom prst="line">
            <a:avLst/>
          </a:prstGeom>
          <a:noFill/>
          <a:ln w="15875">
            <a:solidFill>
              <a:srgbClr val="2A78D6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SUSY (secundario): pares de charginos frente a pares WW; dos leptones y energía faltante.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918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medidas frente a variables diseñadas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063240"/>
          </a:xfrm>
          <a:prstGeom prst="roundRect">
            <a:avLst>
              <a:gd name="adj" fmla="val 238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148132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bajo nivel: lo que mide el detector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pT, η, φ del leptón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pT, η, φ de los 4 jets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 b de cada jet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energía transversal faltante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063240"/>
          </a:xfrm>
          <a:prstGeom prst="roundRect">
            <a:avLst>
              <a:gd name="adj" fmla="val 238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0" y="132588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148132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alto nivel: diseñadas por físicos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28600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masas invariantes m_jj, m_jjj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m_ℓν, m_jℓν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m_bb, m_Wbb, m_WWbb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calculadas a partir de las de bajo nivel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del artículo: ¿puede una red aprender sola, a partir de las 21 medidas, lo que los físicos diseñan a mano?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918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poco profunda frente a red profunda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0" y="118872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05840" y="1584960"/>
            <a:ext cx="1417320" cy="33528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618488"/>
            <a:ext cx="1417320" cy="301752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618488"/>
            <a:ext cx="1417320" cy="637032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618488"/>
            <a:ext cx="1417320" cy="972312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618488"/>
            <a:ext cx="1417320" cy="1307592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618488"/>
            <a:ext cx="1417320" cy="1642872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05840" y="1584960"/>
            <a:ext cx="1417320" cy="435864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005840" y="1920240"/>
            <a:ext cx="1417320" cy="100584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2020824"/>
            <a:ext cx="1417320" cy="234696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2020824"/>
            <a:ext cx="1417320" cy="569976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2020824"/>
            <a:ext cx="1417320" cy="905256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2020824"/>
            <a:ext cx="1417320" cy="1240536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1005840" y="1584960"/>
            <a:ext cx="1417320" cy="83820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1005840" y="1920240"/>
            <a:ext cx="1417320" cy="50292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1005840" y="2255520"/>
            <a:ext cx="1417320" cy="16764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2423160"/>
            <a:ext cx="1417320" cy="16764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2423160"/>
            <a:ext cx="1417320" cy="50292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5840" y="2423160"/>
            <a:ext cx="1417320" cy="83820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1005840" y="1584960"/>
            <a:ext cx="1417320" cy="1240536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005840" y="1920240"/>
            <a:ext cx="1417320" cy="905256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005840" y="2255520"/>
            <a:ext cx="1417320" cy="569976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1005840" y="2590800"/>
            <a:ext cx="1417320" cy="234696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" y="2825496"/>
            <a:ext cx="1417320" cy="100584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2825496"/>
            <a:ext cx="1417320" cy="435864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1005840" y="1584960"/>
            <a:ext cx="1417320" cy="1642872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1005840" y="1920240"/>
            <a:ext cx="1417320" cy="1307592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1005840" y="2255520"/>
            <a:ext cx="1417320" cy="972312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1005840" y="2590800"/>
            <a:ext cx="1417320" cy="637032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1005840" y="2926080"/>
            <a:ext cx="1417320" cy="301752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5840" y="3227832"/>
            <a:ext cx="1417320" cy="33528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23160" y="1584960"/>
            <a:ext cx="1417320" cy="83820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23160" y="1920240"/>
            <a:ext cx="1417320" cy="50292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160" y="2255520"/>
            <a:ext cx="1417320" cy="16764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2423160" y="2423160"/>
            <a:ext cx="1417320" cy="16764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2423160" y="2423160"/>
            <a:ext cx="1417320" cy="50292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2423160" y="2423160"/>
            <a:ext cx="1417320" cy="83820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41832" y="1554480"/>
            <a:ext cx="128016" cy="128016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41832" y="1956816"/>
            <a:ext cx="128016" cy="128016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41832" y="2359152"/>
            <a:ext cx="128016" cy="128016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41832" y="2761488"/>
            <a:ext cx="128016" cy="128016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41832" y="3163824"/>
            <a:ext cx="128016" cy="128016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359152" y="152095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359152" y="185623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59152" y="219151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59152" y="252679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59152" y="286207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359152" y="3197352"/>
            <a:ext cx="128016" cy="12801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76472" y="2359152"/>
            <a:ext cx="128016" cy="12801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5166360" y="1584960"/>
            <a:ext cx="518160" cy="33528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166360" y="1618488"/>
            <a:ext cx="518160" cy="301752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66360" y="1618488"/>
            <a:ext cx="518160" cy="637032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166360" y="1618488"/>
            <a:ext cx="518160" cy="972312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166360" y="1618488"/>
            <a:ext cx="518160" cy="1307592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166360" y="1618488"/>
            <a:ext cx="518160" cy="1642872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5166360" y="1584960"/>
            <a:ext cx="518160" cy="435864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5166360" y="1920240"/>
            <a:ext cx="518160" cy="100584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166360" y="2020824"/>
            <a:ext cx="518160" cy="234696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166360" y="2020824"/>
            <a:ext cx="518160" cy="569976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166360" y="2020824"/>
            <a:ext cx="518160" cy="905256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166360" y="2020824"/>
            <a:ext cx="518160" cy="1240536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5166360" y="1584960"/>
            <a:ext cx="518160" cy="83820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5166360" y="1920240"/>
            <a:ext cx="518160" cy="50292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5166360" y="2255520"/>
            <a:ext cx="518160" cy="16764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166360" y="2423160"/>
            <a:ext cx="518160" cy="16764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166360" y="2423160"/>
            <a:ext cx="518160" cy="50292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166360" y="2423160"/>
            <a:ext cx="518160" cy="83820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5166360" y="1584960"/>
            <a:ext cx="518160" cy="1240536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5166360" y="1920240"/>
            <a:ext cx="518160" cy="905256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5166360" y="2255520"/>
            <a:ext cx="518160" cy="569976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5166360" y="2590800"/>
            <a:ext cx="518160" cy="234696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166360" y="2825496"/>
            <a:ext cx="518160" cy="100584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166360" y="2825496"/>
            <a:ext cx="518160" cy="435864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5166360" y="1584960"/>
            <a:ext cx="518160" cy="1642872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5166360" y="1920240"/>
            <a:ext cx="518160" cy="1307592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5166360" y="2255520"/>
            <a:ext cx="518160" cy="972312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V="1">
            <a:off x="5166360" y="2590800"/>
            <a:ext cx="518160" cy="637032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5166360" y="2926080"/>
            <a:ext cx="518160" cy="301752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166360" y="3227832"/>
            <a:ext cx="518160" cy="33528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684520" y="1584960"/>
            <a:ext cx="518160" cy="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684520" y="158496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684520" y="1584960"/>
            <a:ext cx="518160" cy="67056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684520" y="1584960"/>
            <a:ext cx="518160" cy="100584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684520" y="1584960"/>
            <a:ext cx="518160" cy="134112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684520" y="1584960"/>
            <a:ext cx="518160" cy="167640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V="1">
            <a:off x="5684520" y="158496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684520" y="1920240"/>
            <a:ext cx="518160" cy="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684520" y="192024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684520" y="1920240"/>
            <a:ext cx="518160" cy="67056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684520" y="1920240"/>
            <a:ext cx="518160" cy="100584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684520" y="1920240"/>
            <a:ext cx="518160" cy="134112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5684520" y="1584960"/>
            <a:ext cx="518160" cy="67056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V="1">
            <a:off x="5684520" y="192024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684520" y="2255520"/>
            <a:ext cx="518160" cy="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684520" y="225552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684520" y="2255520"/>
            <a:ext cx="518160" cy="67056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684520" y="2255520"/>
            <a:ext cx="518160" cy="100584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V="1">
            <a:off x="5684520" y="1584960"/>
            <a:ext cx="518160" cy="100584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5684520" y="1920240"/>
            <a:ext cx="518160" cy="67056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V="1">
            <a:off x="5684520" y="225552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684520" y="2590800"/>
            <a:ext cx="518160" cy="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684520" y="259080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684520" y="2590800"/>
            <a:ext cx="518160" cy="67056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V="1">
            <a:off x="5684520" y="1584960"/>
            <a:ext cx="518160" cy="134112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5684520" y="1920240"/>
            <a:ext cx="518160" cy="100584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5684520" y="2255520"/>
            <a:ext cx="518160" cy="67056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5684520" y="259080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684520" y="2926080"/>
            <a:ext cx="518160" cy="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684520" y="292608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flipV="1">
            <a:off x="5684520" y="1584960"/>
            <a:ext cx="518160" cy="167640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flipV="1">
            <a:off x="5684520" y="1920240"/>
            <a:ext cx="518160" cy="134112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flipV="1">
            <a:off x="5684520" y="2255520"/>
            <a:ext cx="518160" cy="100584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V="1">
            <a:off x="5684520" y="2590800"/>
            <a:ext cx="518160" cy="67056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flipV="1">
            <a:off x="5684520" y="292608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684520" y="3261360"/>
            <a:ext cx="518160" cy="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202680" y="1584960"/>
            <a:ext cx="518160" cy="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202680" y="158496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202680" y="1584960"/>
            <a:ext cx="518160" cy="67056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202680" y="1584960"/>
            <a:ext cx="518160" cy="100584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202680" y="1584960"/>
            <a:ext cx="518160" cy="134112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202680" y="1584960"/>
            <a:ext cx="518160" cy="167640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flipV="1">
            <a:off x="6202680" y="158496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202680" y="1920240"/>
            <a:ext cx="518160" cy="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202680" y="192024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202680" y="1920240"/>
            <a:ext cx="518160" cy="67056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202680" y="1920240"/>
            <a:ext cx="518160" cy="100584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202680" y="1920240"/>
            <a:ext cx="518160" cy="134112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flipV="1">
            <a:off x="6202680" y="1584960"/>
            <a:ext cx="518160" cy="67056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flipV="1">
            <a:off x="6202680" y="192024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202680" y="2255520"/>
            <a:ext cx="518160" cy="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202680" y="225552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202680" y="2255520"/>
            <a:ext cx="518160" cy="67056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202680" y="2255520"/>
            <a:ext cx="518160" cy="100584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flipV="1">
            <a:off x="6202680" y="1584960"/>
            <a:ext cx="518160" cy="100584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flipV="1">
            <a:off x="6202680" y="1920240"/>
            <a:ext cx="518160" cy="67056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flipV="1">
            <a:off x="6202680" y="225552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202680" y="2590800"/>
            <a:ext cx="518160" cy="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202680" y="259080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202680" y="2590800"/>
            <a:ext cx="518160" cy="67056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flipV="1">
            <a:off x="6202680" y="1584960"/>
            <a:ext cx="518160" cy="134112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flipV="1">
            <a:off x="6202680" y="1920240"/>
            <a:ext cx="518160" cy="100584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flipV="1">
            <a:off x="6202680" y="2255520"/>
            <a:ext cx="518160" cy="67056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flipV="1">
            <a:off x="6202680" y="259080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202680" y="2926080"/>
            <a:ext cx="518160" cy="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202680" y="292608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 flipV="1">
            <a:off x="6202680" y="1584960"/>
            <a:ext cx="518160" cy="167640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 flipV="1">
            <a:off x="6202680" y="1920240"/>
            <a:ext cx="518160" cy="134112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 flipV="1">
            <a:off x="6202680" y="2255520"/>
            <a:ext cx="518160" cy="100584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 flipV="1">
            <a:off x="6202680" y="2590800"/>
            <a:ext cx="518160" cy="67056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 flipV="1">
            <a:off x="6202680" y="292608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202680" y="3261360"/>
            <a:ext cx="518160" cy="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720840" y="1584960"/>
            <a:ext cx="518160" cy="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720840" y="158496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720840" y="1584960"/>
            <a:ext cx="518160" cy="67056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720840" y="1584960"/>
            <a:ext cx="518160" cy="100584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720840" y="1584960"/>
            <a:ext cx="518160" cy="134112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720840" y="1584960"/>
            <a:ext cx="518160" cy="167640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flipV="1">
            <a:off x="6720840" y="158496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720840" y="1920240"/>
            <a:ext cx="518160" cy="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720840" y="192024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720840" y="1920240"/>
            <a:ext cx="518160" cy="67056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720840" y="1920240"/>
            <a:ext cx="518160" cy="100584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720840" y="1920240"/>
            <a:ext cx="518160" cy="134112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 flipV="1">
            <a:off x="6720840" y="1584960"/>
            <a:ext cx="518160" cy="67056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 flipV="1">
            <a:off x="6720840" y="192024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720840" y="2255520"/>
            <a:ext cx="518160" cy="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720840" y="225552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720840" y="2255520"/>
            <a:ext cx="518160" cy="67056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720840" y="2255520"/>
            <a:ext cx="518160" cy="100584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flipV="1">
            <a:off x="6720840" y="1584960"/>
            <a:ext cx="518160" cy="100584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 flipV="1">
            <a:off x="6720840" y="1920240"/>
            <a:ext cx="518160" cy="67056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flipV="1">
            <a:off x="6720840" y="225552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720840" y="2590800"/>
            <a:ext cx="518160" cy="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720840" y="259080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720840" y="2590800"/>
            <a:ext cx="518160" cy="67056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 flipV="1">
            <a:off x="6720840" y="1584960"/>
            <a:ext cx="518160" cy="134112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 flipV="1">
            <a:off x="6720840" y="1920240"/>
            <a:ext cx="518160" cy="100584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 flipV="1">
            <a:off x="6720840" y="2255520"/>
            <a:ext cx="518160" cy="67056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 flipV="1">
            <a:off x="6720840" y="259080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720840" y="2926080"/>
            <a:ext cx="518160" cy="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720840" y="292608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 flipV="1">
            <a:off x="6720840" y="1584960"/>
            <a:ext cx="518160" cy="167640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flipV="1">
            <a:off x="6720840" y="1920240"/>
            <a:ext cx="518160" cy="134112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flipV="1">
            <a:off x="6720840" y="2255520"/>
            <a:ext cx="518160" cy="100584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 flipV="1">
            <a:off x="6720840" y="2590800"/>
            <a:ext cx="518160" cy="67056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 flipV="1">
            <a:off x="6720840" y="292608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720840" y="3261360"/>
            <a:ext cx="518160" cy="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239000" y="1584960"/>
            <a:ext cx="518160" cy="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239000" y="158496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239000" y="1584960"/>
            <a:ext cx="518160" cy="67056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239000" y="1584960"/>
            <a:ext cx="518160" cy="100584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239000" y="1584960"/>
            <a:ext cx="518160" cy="134112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239000" y="1584960"/>
            <a:ext cx="518160" cy="167640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 flipV="1">
            <a:off x="7239000" y="158496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239000" y="1920240"/>
            <a:ext cx="518160" cy="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239000" y="192024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239000" y="1920240"/>
            <a:ext cx="518160" cy="67056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239000" y="1920240"/>
            <a:ext cx="518160" cy="100584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239000" y="1920240"/>
            <a:ext cx="518160" cy="134112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 flipV="1">
            <a:off x="7239000" y="1584960"/>
            <a:ext cx="518160" cy="67056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 flipV="1">
            <a:off x="7239000" y="192024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239000" y="2255520"/>
            <a:ext cx="518160" cy="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239000" y="225552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239000" y="2255520"/>
            <a:ext cx="518160" cy="67056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239000" y="2255520"/>
            <a:ext cx="518160" cy="100584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 flipV="1">
            <a:off x="7239000" y="1584960"/>
            <a:ext cx="518160" cy="100584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 flipV="1">
            <a:off x="7239000" y="1920240"/>
            <a:ext cx="518160" cy="67056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 flipV="1">
            <a:off x="7239000" y="225552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239000" y="2590800"/>
            <a:ext cx="518160" cy="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239000" y="259080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239000" y="2590800"/>
            <a:ext cx="518160" cy="67056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 flipV="1">
            <a:off x="7239000" y="1584960"/>
            <a:ext cx="518160" cy="134112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 flipV="1">
            <a:off x="7239000" y="1920240"/>
            <a:ext cx="518160" cy="100584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 flipV="1">
            <a:off x="7239000" y="2255520"/>
            <a:ext cx="518160" cy="67056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 flipV="1">
            <a:off x="7239000" y="259080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239000" y="2926080"/>
            <a:ext cx="518160" cy="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239000" y="292608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 flipV="1">
            <a:off x="7239000" y="1584960"/>
            <a:ext cx="518160" cy="167640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 flipV="1">
            <a:off x="7239000" y="1920240"/>
            <a:ext cx="518160" cy="134112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 flipV="1">
            <a:off x="7239000" y="2255520"/>
            <a:ext cx="518160" cy="100584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 flipV="1">
            <a:off x="7239000" y="2590800"/>
            <a:ext cx="518160" cy="67056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 flipV="1">
            <a:off x="7239000" y="2926080"/>
            <a:ext cx="518160" cy="33528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239000" y="3261360"/>
            <a:ext cx="518160" cy="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7757160" y="1584960"/>
            <a:ext cx="518160" cy="83820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757160" y="1920240"/>
            <a:ext cx="518160" cy="50292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757160" y="2255520"/>
            <a:ext cx="518160" cy="16764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 flipV="1">
            <a:off x="7757160" y="2423160"/>
            <a:ext cx="518160" cy="16764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 flipV="1">
            <a:off x="7757160" y="2423160"/>
            <a:ext cx="518160" cy="50292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 flipV="1">
            <a:off x="7757160" y="2423160"/>
            <a:ext cx="518160" cy="838200"/>
          </a:xfrm>
          <a:prstGeom prst="line">
            <a:avLst/>
          </a:prstGeom>
          <a:noFill/>
          <a:ln w="6350">
            <a:solidFill>
              <a:srgbClr val="B8C4D6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5111496" y="1563624"/>
            <a:ext cx="109728" cy="109728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5111496" y="1965960"/>
            <a:ext cx="109728" cy="109728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5111496" y="2368296"/>
            <a:ext cx="109728" cy="109728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5111496" y="2770632"/>
            <a:ext cx="109728" cy="109728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5111496" y="3172968"/>
            <a:ext cx="109728" cy="109728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5629656" y="1530096"/>
            <a:ext cx="109728" cy="1097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5629656" y="1865376"/>
            <a:ext cx="109728" cy="1097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5629656" y="2200656"/>
            <a:ext cx="109728" cy="1097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5629656" y="2535936"/>
            <a:ext cx="109728" cy="1097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5629656" y="2871216"/>
            <a:ext cx="109728" cy="1097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5629656" y="3206496"/>
            <a:ext cx="109728" cy="1097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6147816" y="1530096"/>
            <a:ext cx="109728" cy="1097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6147816" y="1865376"/>
            <a:ext cx="109728" cy="1097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6147816" y="2200656"/>
            <a:ext cx="109728" cy="1097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6147816" y="2535936"/>
            <a:ext cx="109728" cy="1097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6147816" y="2871216"/>
            <a:ext cx="109728" cy="1097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6147816" y="3206496"/>
            <a:ext cx="109728" cy="1097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6665976" y="1530096"/>
            <a:ext cx="109728" cy="1097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6665976" y="1865376"/>
            <a:ext cx="109728" cy="1097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6665976" y="2200656"/>
            <a:ext cx="109728" cy="1097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6665976" y="2535936"/>
            <a:ext cx="109728" cy="1097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6665976" y="2871216"/>
            <a:ext cx="109728" cy="1097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6665976" y="3206496"/>
            <a:ext cx="109728" cy="1097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7184136" y="1530096"/>
            <a:ext cx="109728" cy="1097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7184136" y="1865376"/>
            <a:ext cx="109728" cy="1097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7184136" y="2200656"/>
            <a:ext cx="109728" cy="1097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7184136" y="2535936"/>
            <a:ext cx="109728" cy="1097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7184136" y="2871216"/>
            <a:ext cx="109728" cy="1097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184136" y="3206496"/>
            <a:ext cx="109728" cy="1097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7702296" y="1530096"/>
            <a:ext cx="109728" cy="1097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7702296" y="1865376"/>
            <a:ext cx="109728" cy="1097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7702296" y="2200656"/>
            <a:ext cx="109728" cy="1097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7702296" y="2535936"/>
            <a:ext cx="109728" cy="1097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7702296" y="2871216"/>
            <a:ext cx="109728" cy="1097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7702296" y="3206496"/>
            <a:ext cx="109728" cy="1097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8220456" y="2368296"/>
            <a:ext cx="109728" cy="10972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69" name="Text 267"/>
          <p:cNvSpPr txBox="1"/>
          <p:nvPr/>
        </p:nvSpPr>
        <p:spPr>
          <a:xfrm>
            <a:off x="457200" y="3520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capa oculta</a:t>
            </a:r>
            <a:endParaRPr lang="en-US" sz="1300" dirty="0"/>
          </a:p>
        </p:txBody>
      </p:sp>
      <p:sp>
        <p:nvSpPr>
          <p:cNvPr id="270" name="Text 268"/>
          <p:cNvSpPr txBox="1"/>
          <p:nvPr/>
        </p:nvSpPr>
        <p:spPr>
          <a:xfrm>
            <a:off x="4754880" y="3520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capas × 300 neuronas (tanh)</a:t>
            </a:r>
            <a:endParaRPr lang="en-US" sz="1300" dirty="0"/>
          </a:p>
        </p:txBody>
      </p:sp>
      <p:sp>
        <p:nvSpPr>
          <p:cNvPr id="271" name="Text 269"/>
          <p:cNvSpPr txBox="1"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Enlace con el curso: 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perceptrón multicapa de la Actividad 3. Como en el XOR del experimento 08, cada capa oculta transforma el espacio; la red profunda encadena cinco transformaciones.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918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Entrenamiento: lo visto en clase, a gran escala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96896" cy="1508760"/>
          </a:xfrm>
          <a:prstGeom prst="roundRect">
            <a:avLst>
              <a:gd name="adj" fmla="val 484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Retropropagación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descenso por el gradiente estocástico en mini-lotes de 100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73552" y="1188720"/>
            <a:ext cx="2596896" cy="1508760"/>
          </a:xfrm>
          <a:prstGeom prst="roundRect">
            <a:avLst>
              <a:gd name="adj" fmla="val 484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56432" y="137160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Razón de aprendizaje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456432" y="1783080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 inicial, decae hasta 10</a:t>
            </a:r>
            <a:pPr indent="0" marL="0">
              <a:buNone/>
            </a:pPr>
            <a:r>
              <a:rPr lang="en-US" sz="1200" baseline="30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9904" y="1188720"/>
            <a:ext cx="2596896" cy="1508760"/>
          </a:xfrm>
          <a:prstGeom prst="roundRect">
            <a:avLst>
              <a:gd name="adj" fmla="val 484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72784" y="137160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72784" y="1783080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crece de 0.9 a 0.99 en 200 épocas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2596896" cy="1508760"/>
          </a:xfrm>
          <a:prstGeom prst="roundRect">
            <a:avLst>
              <a:gd name="adj" fmla="val 484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10896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Penalización de pesos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520440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decay de 10</a:t>
            </a:r>
            <a:pPr indent="0" marL="0">
              <a:buNone/>
            </a:pPr>
            <a:r>
              <a:rPr lang="en-US" sz="1200" baseline="30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73552" y="2926080"/>
            <a:ext cx="2596896" cy="1508760"/>
          </a:xfrm>
          <a:prstGeom prst="roundRect">
            <a:avLst>
              <a:gd name="adj" fmla="val 484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56432" y="310896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Parada temprana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456432" y="3520440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validación, entre 200 y 1000 épocas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9904" y="2926080"/>
            <a:ext cx="2596896" cy="1508760"/>
          </a:xfrm>
          <a:prstGeom prst="roundRect">
            <a:avLst>
              <a:gd name="adj" fmla="val 4848"/>
            </a:avLst>
          </a:prstGeom>
          <a:solidFill>
            <a:srgbClr val="FDEEE7"/>
          </a:solidFill>
          <a:ln w="12700">
            <a:solidFill>
              <a:srgbClr val="FDEE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72784" y="310896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272784" y="3520440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 M entrenamiento · 100 000 validación · 500 000 prueba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918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mide: curva ROC, AUC y significancia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4805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72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Curvas ilustrativas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303520" y="123444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Curva ROC</a:t>
            </a:r>
            <a:endParaRPr lang="en-US" sz="125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 que se acepta frente a fondo que se cuela, al mover el umbral de la salida.</a:t>
            </a:r>
            <a:endParaRPr lang="en-US" sz="12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</a:t>
            </a:r>
            <a:endParaRPr lang="en-US" sz="125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bajo la curva: 0.5 es azar y 1 es separación perfecta.</a:t>
            </a:r>
            <a:endParaRPr lang="en-US" sz="12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Significancia (σ)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 improbable es que el exceso sea una fluctuación del fondo; 5σ = descubrimiento.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918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Resultados: la red profunda aprende las variables sola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8463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188720"/>
          <a:ext cx="31089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640080"/>
                <a:gridCol w="640080"/>
                <a:gridCol w="6400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Significancia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Poco profunda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Profunda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577840" y="237744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con medidas brutas, la red profunda supera a la poco profunda con variables de físicos (0.880 &gt; 0.777).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Añadir las de alto nivel casi no aporta (0.880 → 0.885).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SUSY la mejora es mínima (0.875 → 0.879).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918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35608"/>
            <a:ext cx="274320" cy="2743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3716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Simulación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81051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Entrenada y evaluada sobre Monte Carlo: en datos reales depende de lo bien que se simule el detector.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92040" y="1435608"/>
            <a:ext cx="274320" cy="2743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49240" y="13716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 negra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181051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difícil saber qué variables físicas construyó la red, y eso complica validar los errores sistemáticos.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218688"/>
            <a:ext cx="274320" cy="2743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31546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59359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Millones de ejemplos, GPU y una búsqueda de hiperparámetros cara.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3218688"/>
            <a:ext cx="274320" cy="2743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9240" y="31546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 del problema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3593592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 mejora en HIGGS; en SUSY las variables de alto nivel ya capturaban casi todo.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81328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46304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perceptrón multicapa profundo resuelve un problema científico real: separar señal y fondo en física de partículas.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3317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profundidad le permite aprender de las medidas brutas lo que antes se diseñaba a mano.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18688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20040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Pequeñas mejoras en AUC dan grandes ganancias de significancia: de 3.7σ a 5.0σ.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Buscando particulas exoticas con aprendizaje profundo</dc:title>
  <dc:subject>Seminario de investigacion (Actividad 6)</dc:subject>
  <dc:creator/>
  <cp:lastModifiedBy/>
  <cp:revision>1</cp:revision>
  <dcterms:created xsi:type="dcterms:W3CDTF">2026-09-28T20:12:33Z</dcterms:created>
  <dcterms:modified xsi:type="dcterms:W3CDTF">2026-09-28T20:12:33Z</dcterms:modified>
</cp:coreProperties>
</file>