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Misma tipografía que las memorias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Hopfield Hebb</c:v>
                  </c:pt>
                  <c:pt idx="1">
                    <c:v>Hopfield pseudoinv.</c:v>
                  </c:pt>
                  <c:pt idx="2">
                    <c:v>Plantilla</c:v>
                  </c:pt>
                  <c:pt idx="3">
                    <c:v>MLP 42-16-4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92.9</c:v>
                </c:pt>
                <c:pt idx="1">
                  <c:v>98.3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Tipografías del entrenamiento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Hopfield Hebb</c:v>
                  </c:pt>
                  <c:pt idx="1">
                    <c:v>Hopfield pseudoinv.</c:v>
                  </c:pt>
                  <c:pt idx="2">
                    <c:v>Plantilla</c:v>
                  </c:pt>
                  <c:pt idx="3">
                    <c:v>MLP 42-16-4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67.9</c:v>
                </c:pt>
                <c:pt idx="1">
                  <c:v>85.4</c:v>
                </c:pt>
                <c:pt idx="2">
                  <c:v>97.9</c:v>
                </c:pt>
                <c:pt idx="3">
                  <c:v>100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Tipografía nueva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Hopfield Hebb</c:v>
                  </c:pt>
                  <c:pt idx="1">
                    <c:v>Hopfield pseudoinv.</c:v>
                  </c:pt>
                  <c:pt idx="2">
                    <c:v>Plantilla</c:v>
                  </c:pt>
                  <c:pt idx="3">
                    <c:v>MLP 42-16-4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96.7</c:v>
                </c:pt>
                <c:pt idx="1">
                  <c:v>99.2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800" u="none">
                  <a:solidFill>
                    <a:srgbClr val="37415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4B5563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4B5563"/>
                    </a:solidFill>
                    <a:latin typeface="Arial"/>
                  </a:rPr>
                  <a:t>acierto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Hopfield (Hebb)</c:v>
                </c:pt>
              </c:strCache>
            </c:strRef>
          </c:tx>
          <c:spPr>
            <a:solidFill>
              <a:srgbClr val="5B6472"/>
            </a:solidFill>
            <a:ln w="25400" cap="flat">
              <a:solidFill>
                <a:srgbClr val="5B6472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B6472"/>
              </a:solidFill>
              <a:ln w="9525" cap="flat">
                <a:solidFill>
                  <a:srgbClr val="5B64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0.5</c:v>
                  </c:pt>
                  <c:pt idx="1">
                    <c:v>1</c:v>
                  </c:pt>
                  <c:pt idx="2">
                    <c:v>1.5</c:v>
                  </c:pt>
                  <c:pt idx="3">
                    <c:v>2</c:v>
                  </c:pt>
                  <c:pt idx="4">
                    <c:v>2.5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98.3</c:v>
                </c:pt>
                <c:pt idx="2">
                  <c:v>81.7</c:v>
                </c:pt>
                <c:pt idx="3">
                  <c:v>40</c:v>
                </c:pt>
                <c:pt idx="4">
                  <c:v>18.3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Plantilla más cercana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0.5</c:v>
                  </c:pt>
                  <c:pt idx="1">
                    <c:v>1</c:v>
                  </c:pt>
                  <c:pt idx="2">
                    <c:v>1.5</c:v>
                  </c:pt>
                  <c:pt idx="3">
                    <c:v>2</c:v>
                  </c:pt>
                  <c:pt idx="4">
                    <c:v>2.5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86.7</c:v>
                </c:pt>
                <c:pt idx="3">
                  <c:v>59.2</c:v>
                </c:pt>
                <c:pt idx="4">
                  <c:v>39.2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MLP</c:v>
                </c:pt>
              </c:strCache>
            </c:strRef>
          </c:tx>
          <c:spPr>
            <a:solidFill>
              <a:srgbClr val="1BAF7A"/>
            </a:solidFill>
            <a:ln w="25400" cap="flat">
              <a:solidFill>
                <a:srgbClr val="1BAF7A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AF7A"/>
              </a:solidFill>
              <a:ln w="9525" cap="flat">
                <a:solidFill>
                  <a:srgbClr val="1BAF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0.5</c:v>
                  </c:pt>
                  <c:pt idx="1">
                    <c:v>1</c:v>
                  </c:pt>
                  <c:pt idx="2">
                    <c:v>1.5</c:v>
                  </c:pt>
                  <c:pt idx="3">
                    <c:v>2</c:v>
                  </c:pt>
                  <c:pt idx="4">
                    <c:v>2.5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92.5</c:v>
                </c:pt>
                <c:pt idx="3">
                  <c:v>60.8</c:v>
                </c:pt>
                <c:pt idx="4">
                  <c:v>40.8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MLP + aumento de datos</c:v>
                </c:pt>
              </c:strCache>
            </c:strRef>
          </c:tx>
          <c:spPr>
            <a:solidFill>
              <a:srgbClr val="EB6834"/>
            </a:solidFill>
            <a:ln w="254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0.5</c:v>
                  </c:pt>
                  <c:pt idx="1">
                    <c:v>1</c:v>
                  </c:pt>
                  <c:pt idx="2">
                    <c:v>1.5</c:v>
                  </c:pt>
                  <c:pt idx="3">
                    <c:v>2</c:v>
                  </c:pt>
                  <c:pt idx="4">
                    <c:v>2.5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94.2</c:v>
                </c:pt>
                <c:pt idx="3">
                  <c:v>63.3</c:v>
                </c:pt>
                <c:pt idx="4">
                  <c:v>49.2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800" u="none">
                  <a:solidFill>
                    <a:srgbClr val="37415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4B5563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4B5563"/>
                    </a:solidFill>
                    <a:latin typeface="Arial"/>
                  </a:rPr>
                  <a:t>intensidad de la distorsión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4B5563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4B5563"/>
                    </a:solidFill>
                    <a:latin typeface="Arial"/>
                  </a:rPr>
                  <a:t>acierto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Presentacion de resultados de la evaluacion de Redes Neuronales Artificiales. Todo el codigo esta escrito desde cero con numpy; cada cifra sale de los experimentos del repositorio y se regenera con experimentos/ejecutar_todo.py.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actividades 1 y 2 ya estaban; se completaron la 3, 4, 5 y 6 y se anadio el experimento 12 con imagenes reales.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Pesos (1,1) y umbral 2 para AND; (2,2) y umbral 2 para OR. Una busqueda exhaustiva sobre 68 921 rectas confirma que ninguna separa el XOR: el maximo son 3 de 4 patrones.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perceptron aprende los pesos corrigiendo el error. En el problema de letras X y O la red memoriza la anti-plantilla de la letra rival, algo que el informe documenta.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ADALINE minimiza el error cuadratico medio por descenso del gradiente. Sobre el descodificador binario-decimal recupera exactamente los valores posicionales.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capa oculta transforma el plano: en el espacio de las neuronas ocultas el XOR es separable. De 50 inicializaciones, 45 convergen; las otras quedan en un minimo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 1-8-1 con sigmoides ocultas y salida lineal. Se evalua sobre 200 puntos que la red no vio durante el entrenamiento.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mapa de 10x10 se despliega sobre 400 puntos. Sin etiquetas, la matriz U separa los cinco grupos. Sin la funcion de vecindad el mapa cuantiza mejor pero pierde la topologia.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cuatro letras de 7x6 son atractores de la red. Con 8 pixeles invertidos la red recupera la letra correcta en el 87 % de los casos. El dibujo natural de B, C y D no se puede almacenar con Hebb por su alto solapamiento.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seminario tiene su propia presentacion. Aqui solo el resumen.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modulo imagenes.py convierte cualquier foto en la retina de 7x6. La correccion de iluminacion y el recorte que ignora motas redujeron la diferencia media con la retina de la letra limpia de 12 a 4 pixeles.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conjuntos de prueba: la tipografia de las memorias, las cinco tipografias del entrenamiento y una tipografia nueva que el MLP nunca vio. El MLP acierta en todos; Hopfield falla cuando cambia el estilo de la letra.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subir la intensidad de las distorsiones, todos caen. El MLP entrenado solo con distorsiones suaves no generaliza a las fuertes; entrenado con ejemplos igual de distorsionados aguanta mas. A intensidad 2.5 la retina difiere en unos 21 de 42 pixeles de la limpia: la informacion ya se perdio antes de llegar a la 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flujo completo para entrenar con fotos propias. El fragmento de codigo es el mismo del README y esta probado.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Computación Emergente · Evaluación de RNA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neuronales artificiales desde cero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9D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actividades, trece experimentos y un paso más: reconocer letras en fotos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Esteban Alvarez · septiembre de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 flipV="1">
            <a:off x="6126480" y="1264920"/>
            <a:ext cx="792480" cy="1295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394460"/>
            <a:ext cx="792480" cy="3886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0" y="1394460"/>
            <a:ext cx="792480" cy="9067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1394460"/>
            <a:ext cx="792480" cy="14249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394460"/>
            <a:ext cx="792480" cy="194310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0" y="1394460"/>
            <a:ext cx="792480" cy="24612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6126480" y="1264920"/>
            <a:ext cx="792480" cy="9067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6126480" y="1783080"/>
            <a:ext cx="792480" cy="3886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2171700"/>
            <a:ext cx="792480" cy="1295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2171700"/>
            <a:ext cx="792480" cy="64770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2171700"/>
            <a:ext cx="792480" cy="11658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2171700"/>
            <a:ext cx="792480" cy="16840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6126480" y="1264920"/>
            <a:ext cx="792480" cy="16840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6126480" y="1783080"/>
            <a:ext cx="792480" cy="11658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6126480" y="2301240"/>
            <a:ext cx="792480" cy="64770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6126480" y="2819400"/>
            <a:ext cx="792480" cy="1295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2948940"/>
            <a:ext cx="792480" cy="3886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2948940"/>
            <a:ext cx="792480" cy="9067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6126480" y="1264920"/>
            <a:ext cx="792480" cy="24612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6126480" y="1783080"/>
            <a:ext cx="792480" cy="194310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6126480" y="2301240"/>
            <a:ext cx="792480" cy="14249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6126480" y="2819400"/>
            <a:ext cx="792480" cy="9067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6126480" y="3337560"/>
            <a:ext cx="792480" cy="3886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3726180"/>
            <a:ext cx="792480" cy="1295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18960" y="1264920"/>
            <a:ext cx="792480" cy="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18960" y="1264920"/>
            <a:ext cx="792480" cy="5181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18960" y="1264920"/>
            <a:ext cx="792480" cy="10363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18960" y="1264920"/>
            <a:ext cx="792480" cy="15544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18960" y="1264920"/>
            <a:ext cx="792480" cy="2072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18960" y="1264920"/>
            <a:ext cx="792480" cy="259080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6918960" y="1264920"/>
            <a:ext cx="792480" cy="5181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18960" y="1783080"/>
            <a:ext cx="792480" cy="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18960" y="1783080"/>
            <a:ext cx="792480" cy="5181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18960" y="1783080"/>
            <a:ext cx="792480" cy="10363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18960" y="1783080"/>
            <a:ext cx="792480" cy="15544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18960" y="1783080"/>
            <a:ext cx="792480" cy="2072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6918960" y="1264920"/>
            <a:ext cx="792480" cy="10363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6918960" y="1783080"/>
            <a:ext cx="792480" cy="5181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18960" y="2301240"/>
            <a:ext cx="792480" cy="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18960" y="2301240"/>
            <a:ext cx="792480" cy="5181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18960" y="2301240"/>
            <a:ext cx="792480" cy="10363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18960" y="2301240"/>
            <a:ext cx="792480" cy="15544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6918960" y="1264920"/>
            <a:ext cx="792480" cy="15544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6918960" y="1783080"/>
            <a:ext cx="792480" cy="10363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6918960" y="2301240"/>
            <a:ext cx="792480" cy="5181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918960" y="2819400"/>
            <a:ext cx="792480" cy="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918960" y="2819400"/>
            <a:ext cx="792480" cy="5181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18960" y="2819400"/>
            <a:ext cx="792480" cy="10363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6918960" y="1264920"/>
            <a:ext cx="792480" cy="2072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6918960" y="1783080"/>
            <a:ext cx="792480" cy="15544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6918960" y="2301240"/>
            <a:ext cx="792480" cy="10363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6918960" y="2819400"/>
            <a:ext cx="792480" cy="5181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918960" y="3337560"/>
            <a:ext cx="792480" cy="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918960" y="3337560"/>
            <a:ext cx="792480" cy="5181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6918960" y="1264920"/>
            <a:ext cx="792480" cy="259080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6918960" y="1783080"/>
            <a:ext cx="792480" cy="2072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6918960" y="2301240"/>
            <a:ext cx="792480" cy="15544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6918960" y="2819400"/>
            <a:ext cx="792480" cy="10363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6918960" y="3337560"/>
            <a:ext cx="792480" cy="5181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918960" y="3855720"/>
            <a:ext cx="792480" cy="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711440" y="1264920"/>
            <a:ext cx="792480" cy="2590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711440" y="1264920"/>
            <a:ext cx="792480" cy="129540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711440" y="1264920"/>
            <a:ext cx="792480" cy="23317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7711440" y="1524000"/>
            <a:ext cx="792480" cy="2590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711440" y="1783080"/>
            <a:ext cx="792480" cy="7772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711440" y="1783080"/>
            <a:ext cx="792480" cy="18135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V="1">
            <a:off x="7711440" y="1524000"/>
            <a:ext cx="792480" cy="7772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711440" y="2301240"/>
            <a:ext cx="792480" cy="2590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711440" y="2301240"/>
            <a:ext cx="792480" cy="129540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V="1">
            <a:off x="7711440" y="1524000"/>
            <a:ext cx="792480" cy="129540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7711440" y="2560320"/>
            <a:ext cx="792480" cy="2590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711440" y="2819400"/>
            <a:ext cx="792480" cy="7772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V="1">
            <a:off x="7711440" y="1524000"/>
            <a:ext cx="792480" cy="18135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7711440" y="2560320"/>
            <a:ext cx="792480" cy="7772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711440" y="3337560"/>
            <a:ext cx="792480" cy="2590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7711440" y="1524000"/>
            <a:ext cx="792480" cy="23317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V="1">
            <a:off x="7711440" y="2560320"/>
            <a:ext cx="792480" cy="129540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flipV="1">
            <a:off x="7711440" y="3596640"/>
            <a:ext cx="792480" cy="2590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044184" y="1312164"/>
            <a:ext cx="164592" cy="164592"/>
          </a:xfrm>
          <a:prstGeom prst="ellipse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044184" y="2089404"/>
            <a:ext cx="164592" cy="164592"/>
          </a:xfrm>
          <a:prstGeom prst="ellipse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044184" y="2866644"/>
            <a:ext cx="164592" cy="164592"/>
          </a:xfrm>
          <a:prstGeom prst="ellipse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044184" y="3643884"/>
            <a:ext cx="164592" cy="164592"/>
          </a:xfrm>
          <a:prstGeom prst="ellipse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836664" y="1182624"/>
            <a:ext cx="164592" cy="164592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836664" y="1700784"/>
            <a:ext cx="164592" cy="164592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836664" y="2218944"/>
            <a:ext cx="164592" cy="164592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836664" y="2737104"/>
            <a:ext cx="164592" cy="164592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836664" y="3255264"/>
            <a:ext cx="164592" cy="164592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836664" y="3773424"/>
            <a:ext cx="164592" cy="164592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629144" y="1182624"/>
            <a:ext cx="164592" cy="164592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629144" y="1700784"/>
            <a:ext cx="164592" cy="164592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629144" y="2218944"/>
            <a:ext cx="164592" cy="164592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629144" y="2737104"/>
            <a:ext cx="164592" cy="164592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629144" y="3255264"/>
            <a:ext cx="164592" cy="164592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629144" y="3773424"/>
            <a:ext cx="164592" cy="164592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421624" y="1441704"/>
            <a:ext cx="164592" cy="164592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421624" y="2478024"/>
            <a:ext cx="164592" cy="164592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421624" y="3514344"/>
            <a:ext cx="164592" cy="164592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918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hizo: seis actividades y una extensión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885950" cy="164592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353312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828800"/>
            <a:ext cx="15567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McCulloch-Pitts y perceptrón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286000"/>
            <a:ext cx="15567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y OR exactos; el XOR, imposible con una capa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71750" y="1188720"/>
            <a:ext cx="1885950" cy="164592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36342" y="1353312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36342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736342" y="1828800"/>
            <a:ext cx="15567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ADALINE y regla Delta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736342" y="2286000"/>
            <a:ext cx="15567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Descodificador binario con R² = 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86300" y="1188720"/>
            <a:ext cx="1885950" cy="164592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50892" y="1353312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50892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50892" y="1828800"/>
            <a:ext cx="15567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Perceptrón multicapa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850892" y="2286000"/>
            <a:ext cx="15567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XOR con red 2-2-1 y aproximación con R² = 0.9999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00850" y="1188720"/>
            <a:ext cx="1885950" cy="164592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65442" y="1353312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65442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965442" y="1828800"/>
            <a:ext cx="15567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Mapas de Kohonen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965442" y="2286000"/>
            <a:ext cx="15567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grupos encontrados sin etiquetas, pureza 0.993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1885950" cy="164592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" y="3182112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" y="3657600"/>
            <a:ext cx="15567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de Hopfield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21792" y="4114800"/>
            <a:ext cx="15567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Letras A-D de 7×6 recuperadas con ruido: 87 %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71750" y="3017520"/>
            <a:ext cx="1885950" cy="164592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36342" y="3182112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736342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736342" y="3657600"/>
            <a:ext cx="15567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Seminario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2736342" y="4114800"/>
            <a:ext cx="15567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Aprendizaje profundo en física de partículas (Nature Comm. 2014)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86300" y="3017520"/>
            <a:ext cx="1885950" cy="1645920"/>
          </a:xfrm>
          <a:prstGeom prst="roundRect">
            <a:avLst>
              <a:gd name="adj" fmla="val 4444"/>
            </a:avLst>
          </a:prstGeom>
          <a:solidFill>
            <a:srgbClr val="FDEEE7"/>
          </a:solidFill>
          <a:ln w="12700">
            <a:solidFill>
              <a:srgbClr val="FDEEE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50892" y="3182112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50892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4850892" y="3657600"/>
            <a:ext cx="15567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Imágenes reales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4850892" y="4114800"/>
            <a:ext cx="15567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foto a la retina; MLP entrenado con 800 imágenes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7635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y OR son una recta; el XOR no</a:t>
            </a:r>
            <a:endParaRPr lang="en-US" sz="2400" dirty="0"/>
          </a:p>
        </p:txBody>
      </p:sp>
      <p:pic>
        <p:nvPicPr>
          <p:cNvPr id="5" name="Image 0" descr="Frontera del A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075127" cy="2697480"/>
          </a:xfrm>
          <a:prstGeom prst="rect">
            <a:avLst/>
          </a:prstGeom>
        </p:spPr>
      </p:pic>
      <p:pic>
        <p:nvPicPr>
          <p:cNvPr id="6" name="Image 1" descr="XOR no separab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551" y="1143000"/>
            <a:ext cx="3075127" cy="2697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9776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Neurona de McCulloch-Pitts: pesos (1, 1) y umbral θ = 2 reproducen el AND; (2, 2) y θ = 2, el OR. Ambas tablas de verdad salen exactas.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949440" y="123444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68 921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6949440" y="172821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rectas probadas sobre el XOR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6949440" y="25146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de 4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6949440" y="30083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patrones, el máximo que separa una recta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7635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perceptrón aprende los pesos por sí solo</a:t>
            </a:r>
            <a:endParaRPr lang="en-US" sz="2400" dirty="0"/>
          </a:p>
        </p:txBody>
      </p:sp>
      <p:pic>
        <p:nvPicPr>
          <p:cNvPr id="5" name="Image 0" descr="Evolucion de la frontera del A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984955" cy="3429000"/>
          </a:xfrm>
          <a:prstGeom prst="rect">
            <a:avLst/>
          </a:prstGeom>
        </p:spPr>
      </p:pic>
      <p:pic>
        <p:nvPicPr>
          <p:cNvPr id="6" name="Image 1" descr="Pesos como plantil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43000"/>
            <a:ext cx="4023360" cy="177027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663440" y="310896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 en todo problema separable: AND, OR y letras X y O con ruido.</a:t>
            </a:r>
            <a:endParaRPr lang="en-US" sz="125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pesos iniciales nulos, la razón de aprendizaje no cambia la frontera.</a:t>
            </a:r>
            <a:endParaRPr lang="en-US" sz="1250" dirty="0"/>
          </a:p>
          <a:p>
            <a:pPr algn="l" marL="177800" indent="-1778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las letras, cada neurona guarda la anti-plantilla de su rival.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7635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ADALINE: la regla Delta baja por un paraboloide</a:t>
            </a:r>
            <a:endParaRPr lang="en-US" sz="2400" dirty="0"/>
          </a:p>
        </p:txBody>
      </p:sp>
      <p:pic>
        <p:nvPicPr>
          <p:cNvPr id="5" name="Image 0" descr="Contorno del err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376318" cy="34747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0" y="12344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(0, 4, 2, 1)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172821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pesos aprendidos: los valores posicionales de los bits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2423160"/>
            <a:ext cx="14630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3·10</a:t>
            </a:r>
            <a:pPr indent="0" marL="0">
              <a:buNone/>
            </a:pPr>
            <a:r>
              <a:rPr lang="en-US" sz="2600" b="1" baseline="30000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−17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5486400" y="285597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cuadrático medio final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223760" y="2423160"/>
            <a:ext cx="14630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= 1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223760" y="285597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las 8 entradas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486400" y="36118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superficie de error es convexa: un único mínimo y ningún mínimo local.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7635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capa oculta vuelve separable el XOR</a:t>
            </a:r>
            <a:endParaRPr lang="en-US" sz="2400" dirty="0"/>
          </a:p>
        </p:txBody>
      </p:sp>
      <p:pic>
        <p:nvPicPr>
          <p:cNvPr id="5" name="Image 0" descr="Espacio oculto del X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6400800" cy="273497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015085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2-2-1 entrenada con retropropagación: las dos neuronas ocultas llevan los cuatro puntos a un espacio donde una recta ya los separa.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132320" y="123444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90 %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7132320" y="17282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50 arranques resuelve el XOR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132320" y="251460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10 %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300837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queda atrapado en un mínimo local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7635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Aproximar sin x + 0.5 sin 3x con 8 neuronas</a:t>
            </a:r>
            <a:endParaRPr lang="en-US" sz="2400" dirty="0"/>
          </a:p>
        </p:txBody>
      </p:sp>
      <p:pic>
        <p:nvPicPr>
          <p:cNvPr id="5" name="Image 0" descr="Aproximacion de la func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181905" cy="34747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852160" y="123444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= 0.99994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172821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200 puntos que la red no vio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246888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1-8-1: sigmoides ocultas, salida lineal.</a:t>
            </a:r>
            <a:endParaRPr lang="en-US" sz="125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neurona oculta aporta un escalón suave; la salida los suma.</a:t>
            </a:r>
            <a:endParaRPr lang="en-US" sz="1250" dirty="0"/>
          </a:p>
          <a:p>
            <a:pPr algn="l" marL="177800" indent="-1778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Parada temprana con un conjunto de validación.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7635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Kohonen: los grupos emergen sin etiquetas</a:t>
            </a:r>
            <a:endParaRPr lang="en-US" sz="2400" dirty="0"/>
          </a:p>
        </p:txBody>
      </p:sp>
      <p:pic>
        <p:nvPicPr>
          <p:cNvPr id="5" name="Image 0" descr="Grupos encontrados por el map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6309360" cy="270388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984171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10×10 neuronas sobre 400 puntos en 5 grupos. Sin vecindad no hay mapa: el error topográfico sube de ~0.01 a ~0.95.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040880" y="12344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0.993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7040880" y="17282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pureza frente a los grupos reales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040880" y="251460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de 5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040880" y="300837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grupos identificados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7635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Hopfield: memoria que corrige el ruido</a:t>
            </a:r>
            <a:endParaRPr lang="en-US" sz="2400" dirty="0"/>
          </a:p>
        </p:txBody>
      </p:sp>
      <p:pic>
        <p:nvPicPr>
          <p:cNvPr id="5" name="Image 0" descr="Ejemplos de recuperac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750308" cy="35661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0" y="12344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87 %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172821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letras recuperadas con 8 de 42 píxeles invertidos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246888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letras A, B, C y D son puntos fijos: la energía nunca aumenta.</a:t>
            </a:r>
            <a:endParaRPr lang="en-US" sz="125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trazo fino se solapan hasta 0.62 y la regla de Hebb falla; se resuelve con trazo grueso o con la pseudoinversa.</a:t>
            </a:r>
            <a:endParaRPr lang="en-US" sz="1250" dirty="0"/>
          </a:p>
          <a:p>
            <a:pPr algn="l" marL="177800" indent="-1778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el 50 % de ruido la imagen ya no se distingue del azar.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7635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Seminario: redes profundas en física de partículas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Baldi, Sadowski y Whiteson (2014)</a:t>
            </a:r>
            <a:endParaRPr lang="en-US" sz="12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Searching for exotic particles in high-energy physics with deep learning.</a:t>
            </a:r>
            <a:endParaRPr lang="en-US" sz="125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Communications 5, 4308.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perceptrón multicapa de 5 capas ocultas separa señal y fondo en el LHC a partir de las medidas brutas, sin variables diseñadas a mano.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28016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0.733 → 0.880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7393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con variables de bajo nivel: red poco profunda → profunda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56032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3.7σ → 5.0σ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305409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significancia de descubrimiento con todas las variables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7635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Imágenes reales: de la foto a la retina de 7×6</a:t>
            </a:r>
            <a:endParaRPr lang="en-US" sz="2400" dirty="0"/>
          </a:p>
        </p:txBody>
      </p:sp>
      <p:pic>
        <p:nvPicPr>
          <p:cNvPr id="5" name="Image 0" descr="Pasos del preprocesamien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165780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029111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→ 4 px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522887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42 distintos de la letra limpia, antes y después de corregir la luz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3200400" y="3074831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Grises → corrección de iluminación (superficie ajustada al fondo) → umbral de Otsu → recorte que ignora motas → reducción por bloques → ±1.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 igual con una foto del móvil de 4000 px, con tinta clara sobre fondo oscuro o con la letra en cualquier posición.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7635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Hopfield recuerda; el MLP entrenado generaliza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97280"/>
          <a:ext cx="52120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035040" y="123444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100 %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172821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42-16-4 en una tipografía que nunca vio (800 imágenes de entrenamiento)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260604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52 %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309981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Hopfield con letras serif finas: una memoria de una imagen por letra no es un clasificador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7635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red solo resiste la variación que vio al entrenar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97280"/>
          <a:ext cx="52120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035040" y="123444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41 % → 49 %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172821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acierto con distorsión 2.5, sin y con aumento de datos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2514600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Lección: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ejemplos de entrenamiento deben cubrir la variación que la red encontrará después.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distorsión 2.5 la retina ya difiere en 21 de 42 píxeles: ahí hay que mejorar la entrada, no la red.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7635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Entrenar con tus propias fotos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143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05840" y="1353312"/>
            <a:ext cx="1463040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45720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Fotografiar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011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A, B, C y D a mano o impresas; una letra por foto, fondo liso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14300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06040" y="1143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154680" y="1353312"/>
            <a:ext cx="1463040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260604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606040" y="2011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datos/imagenes/propias/A/, B/, C/, D/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14300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54880" y="1143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303520" y="1353312"/>
            <a:ext cx="1463040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475488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Ampliar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2011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reservar fotos de prueba y multiplicar el resto con distorsionar()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03720" y="114300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03720" y="1143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2011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42-16-4 con codificación uno de n y evaluar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F7F7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3127248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X, etiquetas, _ = imagenes.cargar_carpeta("datos/imagenes/propias")   # (n, 42) en ±1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np.eye(4)[["ABCD".index(e) for e in etiquetas]]                  # uno de 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 = PerceptronMulticapa([42, 16, 4], razon_aprendizaje=0.1, momento=0.5)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red.entrenar(X, D)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print("ABCD"[np.argmax(red.salida(imagenes.preprocesar("foto.jpg")[None]))])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45336"/>
            <a:ext cx="274320" cy="2743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508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capa no basta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9202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9D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XOR marca el límite del perceptrón; una capa oculta lo supera.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663440" y="1545336"/>
            <a:ext cx="274320" cy="2743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0" y="1508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Aprender es bajar por el error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19202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9D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ADALINE y retropropagación: descenso por el gradiente, con mínimos locales en redes multicapa.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145536"/>
            <a:ext cx="274320" cy="2743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108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Otros paradigmas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5204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9D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Kohonen agrupa sin etiquetas; Hopfield recuerda y corrige ruido.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3145536"/>
            <a:ext cx="274320" cy="2743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20640" y="3108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fotos reales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35204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9D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preprocesamiento pesa más que la red, y la red solo generaliza a la variación que vio al entrenar.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Redes neuronales artificiales desde cero</dc:title>
  <dc:subject>Evaluacion de RNA</dc:subject>
  <dc:creator/>
  <cp:lastModifiedBy/>
  <cp:revision>1</cp:revision>
  <dcterms:created xsi:type="dcterms:W3CDTF">2026-09-28T20:12:33Z</dcterms:created>
  <dcterms:modified xsi:type="dcterms:W3CDTF">2026-09-28T20:12:33Z</dcterms:modified>
</cp:coreProperties>
</file>